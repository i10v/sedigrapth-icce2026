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61" r:id="rId3"/>
    <p:sldId id="257" r:id="rId4"/>
    <p:sldId id="258" r:id="rId5"/>
    <p:sldId id="259" r:id="rId6"/>
    <p:sldId id="268" r:id="rId7"/>
    <p:sldId id="285" r:id="rId8"/>
    <p:sldId id="284" r:id="rId9"/>
    <p:sldId id="260" r:id="rId10"/>
    <p:sldId id="283" r:id="rId11"/>
    <p:sldId id="263" r:id="rId12"/>
    <p:sldId id="265" r:id="rId13"/>
    <p:sldId id="267" r:id="rId14"/>
    <p:sldId id="264" r:id="rId15"/>
    <p:sldId id="275" r:id="rId16"/>
    <p:sldId id="273" r:id="rId17"/>
    <p:sldId id="272" r:id="rId18"/>
    <p:sldId id="271" r:id="rId19"/>
    <p:sldId id="276" r:id="rId20"/>
    <p:sldId id="274" r:id="rId21"/>
    <p:sldId id="277" r:id="rId22"/>
    <p:sldId id="278" r:id="rId23"/>
    <p:sldId id="279" r:id="rId24"/>
    <p:sldId id="281" r:id="rId25"/>
    <p:sldId id="282" r:id="rId26"/>
    <p:sldId id="280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80B8"/>
    <a:srgbClr val="FFD0D0"/>
    <a:srgbClr val="CAE4FF"/>
    <a:srgbClr val="0F6EAF"/>
    <a:srgbClr val="E31A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714" y="78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36D01B-F872-498A-89AA-121B733F82DB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3990B-A3E5-4C3F-94DD-04B7E8C5C0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3378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43990B-A3E5-4C3F-94DD-04B7E8C5C094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416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7235-1B16-4E1C-8B18-2772A2624D63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95C5-DD56-4464-A27A-3283CE5D5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91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7235-1B16-4E1C-8B18-2772A2624D63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95C5-DD56-4464-A27A-3283CE5D5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9477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7235-1B16-4E1C-8B18-2772A2624D63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95C5-DD56-4464-A27A-3283CE5D5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348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7235-1B16-4E1C-8B18-2772A2624D63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95C5-DD56-4464-A27A-3283CE5D5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1830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7235-1B16-4E1C-8B18-2772A2624D63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95C5-DD56-4464-A27A-3283CE5D5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242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7235-1B16-4E1C-8B18-2772A2624D63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95C5-DD56-4464-A27A-3283CE5D5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05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7235-1B16-4E1C-8B18-2772A2624D63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95C5-DD56-4464-A27A-3283CE5D5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6621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7235-1B16-4E1C-8B18-2772A2624D63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95C5-DD56-4464-A27A-3283CE5D5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5509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7235-1B16-4E1C-8B18-2772A2624D63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95C5-DD56-4464-A27A-3283CE5D5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8612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7235-1B16-4E1C-8B18-2772A2624D63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95C5-DD56-4464-A27A-3283CE5D5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9901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07235-1B16-4E1C-8B18-2772A2624D63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D95C5-DD56-4464-A27A-3283CE5D5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4663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707235-1B16-4E1C-8B18-2772A2624D63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D95C5-DD56-4464-A27A-3283CE5D5B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8504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56616" y="281115"/>
            <a:ext cx="11164824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 Long-term sediment flow monitoring in the </a:t>
            </a:r>
            <a:r>
              <a:rPr lang="en-US" dirty="0" err="1"/>
              <a:t>Baksan</a:t>
            </a:r>
            <a:r>
              <a:rPr lang="en-US" dirty="0"/>
              <a:t> River catchment: challenges and flood-event dynamics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13332" y="2952827"/>
            <a:ext cx="9144000" cy="1655762"/>
          </a:xfrm>
        </p:spPr>
        <p:txBody>
          <a:bodyPr/>
          <a:lstStyle/>
          <a:p>
            <a:r>
              <a:rPr lang="en-US" u="sng" dirty="0"/>
              <a:t>Ivanov V.A.</a:t>
            </a:r>
            <a:r>
              <a:rPr lang="en-US" u="sng" baseline="30000" dirty="0"/>
              <a:t>1 2</a:t>
            </a:r>
            <a:r>
              <a:rPr lang="en-US" dirty="0"/>
              <a:t>, </a:t>
            </a:r>
            <a:r>
              <a:rPr lang="en-US" dirty="0" err="1"/>
              <a:t>Pavlyukevich</a:t>
            </a:r>
            <a:r>
              <a:rPr lang="en-US" dirty="0"/>
              <a:t> E.D.</a:t>
            </a:r>
            <a:r>
              <a:rPr lang="en-US" baseline="30000" dirty="0"/>
              <a:t>2</a:t>
            </a:r>
            <a:r>
              <a:rPr lang="en-US" dirty="0"/>
              <a:t>, </a:t>
            </a:r>
            <a:r>
              <a:rPr lang="en-US" dirty="0" err="1"/>
              <a:t>Krylenko</a:t>
            </a:r>
            <a:r>
              <a:rPr lang="en-US" dirty="0"/>
              <a:t> I.V.</a:t>
            </a:r>
            <a:r>
              <a:rPr lang="en-US" baseline="30000" dirty="0"/>
              <a:t>1</a:t>
            </a:r>
            <a:r>
              <a:rPr lang="en-US" dirty="0"/>
              <a:t>, </a:t>
            </a:r>
            <a:r>
              <a:rPr lang="en-US" dirty="0" err="1"/>
              <a:t>Krylenko</a:t>
            </a:r>
            <a:r>
              <a:rPr lang="en-US" dirty="0"/>
              <a:t> I.N.</a:t>
            </a:r>
            <a:r>
              <a:rPr lang="en-US" baseline="30000" dirty="0"/>
              <a:t>1,2</a:t>
            </a:r>
            <a:r>
              <a:rPr lang="en-US"/>
              <a:t>, </a:t>
            </a:r>
            <a:r>
              <a:rPr lang="en-US" smtClean="0"/>
              <a:t>Tsyplenkov</a:t>
            </a:r>
            <a:r>
              <a:rPr lang="en-US" dirty="0" smtClean="0"/>
              <a:t> </a:t>
            </a:r>
            <a:r>
              <a:rPr lang="en-US" dirty="0" smtClean="0"/>
              <a:t>A.S.,  </a:t>
            </a:r>
            <a:r>
              <a:rPr lang="en-US" dirty="0" err="1"/>
              <a:t>Batchaev</a:t>
            </a:r>
            <a:r>
              <a:rPr lang="en-US" dirty="0"/>
              <a:t> I.I.</a:t>
            </a:r>
            <a:r>
              <a:rPr lang="en-US" baseline="30000" dirty="0"/>
              <a:t>3</a:t>
            </a:r>
            <a:r>
              <a:rPr lang="en-US" dirty="0"/>
              <a:t> </a:t>
            </a:r>
            <a:r>
              <a:rPr lang="en-US" dirty="0" err="1"/>
              <a:t>Bogachenko</a:t>
            </a:r>
            <a:r>
              <a:rPr lang="en-US" dirty="0"/>
              <a:t> E.M.</a:t>
            </a:r>
            <a:r>
              <a:rPr lang="en-US" baseline="30000" dirty="0"/>
              <a:t>4</a:t>
            </a:r>
            <a:r>
              <a:rPr lang="en-US" dirty="0"/>
              <a:t>, </a:t>
            </a:r>
            <a:r>
              <a:rPr lang="en-US" dirty="0" err="1"/>
              <a:t>Golosov</a:t>
            </a:r>
            <a:r>
              <a:rPr lang="en-US" dirty="0"/>
              <a:t> V.N. </a:t>
            </a:r>
            <a:r>
              <a:rPr lang="en-US" i="1" baseline="30000" dirty="0" smtClean="0"/>
              <a:t>1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037332" y="4133749"/>
            <a:ext cx="611733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0170" marR="100965" algn="ctr">
              <a:spcBef>
                <a:spcPts val="575"/>
              </a:spcBef>
              <a:spcAft>
                <a:spcPts val="0"/>
              </a:spcAft>
            </a:pPr>
            <a:r>
              <a:rPr lang="en-US" i="1" spc="-10" baseline="30000" dirty="0">
                <a:latin typeface="Calibri" panose="020F0502020204030204" pitchFamily="34" charset="0"/>
                <a:ea typeface="Calibri" panose="020F0502020204030204" pitchFamily="34" charset="0"/>
              </a:rPr>
              <a:t>1</a:t>
            </a:r>
            <a:r>
              <a:rPr lang="en-US" i="1" spc="-10" dirty="0">
                <a:latin typeface="Calibri" panose="020F0502020204030204" pitchFamily="34" charset="0"/>
                <a:ea typeface="Calibri" panose="020F0502020204030204" pitchFamily="34" charset="0"/>
              </a:rPr>
              <a:t>Lomonosov Moscow State University–</a:t>
            </a:r>
            <a:r>
              <a:rPr lang="en-US" i="1" spc="5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i="1" spc="-10" dirty="0">
                <a:latin typeface="Calibri" panose="020F0502020204030204" pitchFamily="34" charset="0"/>
                <a:ea typeface="Calibri" panose="020F0502020204030204" pitchFamily="34" charset="0"/>
              </a:rPr>
              <a:t>Moscow,</a:t>
            </a:r>
            <a:r>
              <a:rPr lang="en-US" i="1" spc="5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i="1" spc="-10" dirty="0">
                <a:latin typeface="Calibri" panose="020F0502020204030204" pitchFamily="34" charset="0"/>
                <a:ea typeface="Calibri" panose="020F0502020204030204" pitchFamily="34" charset="0"/>
              </a:rPr>
              <a:t>Russia</a:t>
            </a:r>
            <a:r>
              <a:rPr lang="en-US" i="1" spc="1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i="1" spc="-10" dirty="0">
                <a:latin typeface="Calibri" panose="020F0502020204030204" pitchFamily="34" charset="0"/>
                <a:ea typeface="Calibri" panose="020F0502020204030204" pitchFamily="34" charset="0"/>
              </a:rPr>
              <a:t>(*viktoro.1998@yandex.ru)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>
              <a:spcAft>
                <a:spcPts val="0"/>
              </a:spcAft>
            </a:pPr>
            <a:r>
              <a:rPr lang="en-US" i="1" baseline="30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2</a:t>
            </a:r>
            <a:r>
              <a:rPr lang="en-US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Water Problem Institute RAS, Moscow, Russia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>
              <a:spcAft>
                <a:spcPts val="0"/>
              </a:spcAft>
            </a:pPr>
            <a:r>
              <a:rPr lang="en-US" i="1" baseline="30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3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</a:rPr>
              <a:t> High-Mountain Geophysical Institute, Nalchik, Russia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>
              <a:spcAft>
                <a:spcPts val="0"/>
              </a:spcAft>
            </a:pPr>
            <a:r>
              <a:rPr lang="en-US" i="1" baseline="30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4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ea typeface="Calibri" panose="020F0502020204030204" pitchFamily="34" charset="0"/>
              </a:rPr>
              <a:t>Kabardino-Balkarian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</a:rPr>
              <a:t> Center for Hydrometeorology and Environmental Monitoring, Nalchik, Russia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9248" y="6453444"/>
            <a:ext cx="1203350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This </a:t>
            </a:r>
            <a:r>
              <a:rPr lang="en-US" sz="1600" dirty="0"/>
              <a:t>work was supported by the grant of the </a:t>
            </a:r>
            <a:r>
              <a:rPr lang="en-US" sz="1600" dirty="0" err="1"/>
              <a:t>The</a:t>
            </a:r>
            <a:r>
              <a:rPr lang="en-US" sz="1600" dirty="0"/>
              <a:t> Government of the Russian Federation (Agreement №075-15-2025-008 date 27.02 2025).</a:t>
            </a:r>
            <a:endParaRPr lang="ru-RU" sz="16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4605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l="-1" t="6514" r="-1115" b="9447"/>
          <a:stretch/>
        </p:blipFill>
        <p:spPr>
          <a:xfrm>
            <a:off x="-50459" y="-827314"/>
            <a:ext cx="12256973" cy="7678057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97857" y="2506662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ru-RU" sz="5400" dirty="0" smtClean="0"/>
          </a:p>
          <a:p>
            <a:pPr marL="0" indent="0" algn="ctr">
              <a:buNone/>
            </a:pPr>
            <a:r>
              <a:rPr lang="en-US" sz="5400" dirty="0" smtClean="0"/>
              <a:t>Introduction</a:t>
            </a:r>
            <a:endParaRPr lang="ru-RU" sz="54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6488668"/>
            <a:ext cx="2150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Baksan</a:t>
            </a:r>
            <a:r>
              <a:rPr lang="en-US" dirty="0" smtClean="0">
                <a:solidFill>
                  <a:schemeClr val="bg1"/>
                </a:solidFill>
              </a:rPr>
              <a:t> river, </a:t>
            </a:r>
            <a:r>
              <a:rPr lang="en-US" dirty="0" err="1" smtClean="0">
                <a:solidFill>
                  <a:schemeClr val="bg1"/>
                </a:solidFill>
              </a:rPr>
              <a:t>Tyrnauz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851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157329"/>
            <a:ext cx="12192000" cy="1325563"/>
          </a:xfrm>
        </p:spPr>
        <p:txBody>
          <a:bodyPr/>
          <a:lstStyle/>
          <a:p>
            <a:r>
              <a:rPr lang="en-US" dirty="0" smtClean="0"/>
              <a:t>Sediment gauging in Caucasus: suspended load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9236" y="987425"/>
            <a:ext cx="12374021" cy="4351338"/>
          </a:xfrm>
        </p:spPr>
        <p:txBody>
          <a:bodyPr/>
          <a:lstStyle/>
          <a:p>
            <a:r>
              <a:rPr lang="en-US" dirty="0" smtClean="0"/>
              <a:t>Max density 3.5 gauges / 10 000 km2</a:t>
            </a:r>
          </a:p>
          <a:p>
            <a:r>
              <a:rPr lang="en-US" dirty="0" smtClean="0"/>
              <a:t>Current density 1 gauge / 10 000 km2</a:t>
            </a:r>
          </a:p>
          <a:p>
            <a:r>
              <a:rPr lang="en-US" dirty="0" smtClean="0"/>
              <a:t>&lt;&lt; 2 measurements per day 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350" y="2567428"/>
            <a:ext cx="8164878" cy="40989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84228" y="4846320"/>
            <a:ext cx="23754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Study area:</a:t>
            </a:r>
          </a:p>
          <a:p>
            <a:r>
              <a:rPr lang="en-US" dirty="0" err="1" smtClean="0"/>
              <a:t>Baksan</a:t>
            </a:r>
            <a:r>
              <a:rPr lang="en-US" dirty="0" smtClean="0"/>
              <a:t> river catchment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9788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76086"/>
            <a:ext cx="10515600" cy="1325563"/>
          </a:xfrm>
        </p:spPr>
        <p:txBody>
          <a:bodyPr/>
          <a:lstStyle/>
          <a:p>
            <a:r>
              <a:rPr lang="en-US" dirty="0" smtClean="0"/>
              <a:t>Sediment gauging in Caucasus: bedload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314" y="2621253"/>
            <a:ext cx="8146143" cy="4089578"/>
          </a:xfrm>
        </p:spPr>
      </p:pic>
      <p:sp>
        <p:nvSpPr>
          <p:cNvPr id="5" name="Объект 2"/>
          <p:cNvSpPr txBox="1">
            <a:spLocks/>
          </p:cNvSpPr>
          <p:nvPr/>
        </p:nvSpPr>
        <p:spPr>
          <a:xfrm>
            <a:off x="0" y="1089025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Only one gauging station, F = 778 km², </a:t>
            </a:r>
            <a:r>
              <a:rPr lang="en-US" dirty="0" err="1" smtClean="0"/>
              <a:t>Qmean</a:t>
            </a:r>
            <a:r>
              <a:rPr lang="en-US" dirty="0" smtClean="0"/>
              <a:t> = 67 m³/s</a:t>
            </a:r>
          </a:p>
          <a:p>
            <a:r>
              <a:rPr lang="en-US" dirty="0" smtClean="0"/>
              <a:t>Working period 1938-1940</a:t>
            </a:r>
          </a:p>
          <a:p>
            <a:r>
              <a:rPr lang="en-US" dirty="0" smtClean="0"/>
              <a:t>37-47 measurements per year 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4127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86" y="-200706"/>
            <a:ext cx="10515600" cy="1325563"/>
          </a:xfrm>
        </p:spPr>
        <p:txBody>
          <a:bodyPr/>
          <a:lstStyle/>
          <a:p>
            <a:r>
              <a:rPr lang="en-US" dirty="0" smtClean="0"/>
              <a:t>Study area: </a:t>
            </a:r>
            <a:r>
              <a:rPr lang="en-US" dirty="0" err="1" smtClean="0"/>
              <a:t>Baksan</a:t>
            </a:r>
            <a:r>
              <a:rPr lang="en-US" dirty="0" smtClean="0"/>
              <a:t> river watershed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86" y="928914"/>
            <a:ext cx="6175099" cy="396970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646363"/>
            <a:ext cx="6096000" cy="396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033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45437"/>
          </a:xfrm>
        </p:spPr>
        <p:txBody>
          <a:bodyPr/>
          <a:lstStyle/>
          <a:p>
            <a:r>
              <a:rPr lang="en-US" dirty="0" smtClean="0"/>
              <a:t>Disasters on </a:t>
            </a:r>
            <a:r>
              <a:rPr lang="en-US" dirty="0" err="1" smtClean="0"/>
              <a:t>Baksan</a:t>
            </a:r>
            <a:r>
              <a:rPr lang="en-US" dirty="0" smtClean="0"/>
              <a:t> catchment</a:t>
            </a:r>
            <a:endParaRPr lang="ru-RU" dirty="0"/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922" y="1138104"/>
            <a:ext cx="4975322" cy="3316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6922" y="4454987"/>
            <a:ext cx="4196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Debris flow in </a:t>
            </a:r>
            <a:r>
              <a:rPr lang="en-US" dirty="0" err="1" smtClean="0"/>
              <a:t>Tyrnauz</a:t>
            </a:r>
            <a:r>
              <a:rPr lang="en-US" dirty="0" smtClean="0"/>
              <a:t>, 2000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32707"/>
            <a:ext cx="5968529" cy="33168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0" y="4449590"/>
            <a:ext cx="4196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Debris in </a:t>
            </a:r>
            <a:r>
              <a:rPr lang="en-US" dirty="0" err="1" smtClean="0"/>
              <a:t>Tyrnauz</a:t>
            </a:r>
            <a:r>
              <a:rPr lang="en-US" dirty="0" smtClean="0"/>
              <a:t>, 2025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139450" y="5493203"/>
            <a:ext cx="120525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Debris </a:t>
            </a:r>
            <a:r>
              <a:rPr lang="en-US" sz="2000" dirty="0"/>
              <a:t>flows have been documented here in 1937, 1960, 1961, 1962, 1977, 1999, 2000, 2002, 2011, </a:t>
            </a:r>
            <a:r>
              <a:rPr lang="en-US" sz="2000" dirty="0" smtClean="0"/>
              <a:t>2017, 2025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Glacial </a:t>
            </a:r>
            <a:r>
              <a:rPr lang="en-US" sz="2000" dirty="0"/>
              <a:t>lake outburst </a:t>
            </a:r>
            <a:r>
              <a:rPr lang="en-US" sz="2000" dirty="0" smtClean="0"/>
              <a:t>floods (GLOF) </a:t>
            </a:r>
            <a:r>
              <a:rPr lang="en-US" sz="2000" dirty="0" err="1" smtClean="0"/>
              <a:t>Bashkara</a:t>
            </a:r>
            <a:r>
              <a:rPr lang="en-US" sz="2000" dirty="0" smtClean="0"/>
              <a:t> Lake 1950s, 2017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GLOF </a:t>
            </a:r>
            <a:r>
              <a:rPr lang="en-US" sz="2000" dirty="0"/>
              <a:t>from </a:t>
            </a:r>
            <a:r>
              <a:rPr lang="en-US" sz="2000" dirty="0" err="1"/>
              <a:t>Azau</a:t>
            </a:r>
            <a:r>
              <a:rPr lang="en-US" sz="2000" dirty="0"/>
              <a:t> Lake in </a:t>
            </a:r>
            <a:r>
              <a:rPr lang="en-US" sz="2000" dirty="0" smtClean="0"/>
              <a:t>2000, 2006, 2025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079421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Study goal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organize automatic high-frequency turbidity monitoring in the </a:t>
            </a:r>
            <a:r>
              <a:rPr lang="en-US" dirty="0" err="1"/>
              <a:t>Baksan</a:t>
            </a:r>
            <a:r>
              <a:rPr lang="en-US" dirty="0"/>
              <a:t> </a:t>
            </a:r>
            <a:r>
              <a:rPr lang="en-US" dirty="0" smtClean="0"/>
              <a:t>catchment</a:t>
            </a:r>
            <a:endParaRPr lang="en-US" dirty="0"/>
          </a:p>
          <a:p>
            <a:r>
              <a:rPr lang="en-US" dirty="0"/>
              <a:t>To characterize the extreme hydrological events of </a:t>
            </a:r>
            <a:r>
              <a:rPr lang="en-US" dirty="0" smtClean="0"/>
              <a:t>2025</a:t>
            </a:r>
            <a:endParaRPr lang="en-US" dirty="0"/>
          </a:p>
          <a:p>
            <a:r>
              <a:rPr lang="en-US" dirty="0"/>
              <a:t>To quantify the contribution of the identified </a:t>
            </a:r>
            <a:r>
              <a:rPr lang="en-US" dirty="0" smtClean="0"/>
              <a:t>high turbidity </a:t>
            </a:r>
            <a:r>
              <a:rPr lang="en-US" dirty="0"/>
              <a:t>events to the total annual </a:t>
            </a:r>
            <a:r>
              <a:rPr lang="en-US" dirty="0" smtClean="0"/>
              <a:t>sediment </a:t>
            </a:r>
            <a:r>
              <a:rPr lang="en-US" dirty="0"/>
              <a:t>yield </a:t>
            </a:r>
            <a:r>
              <a:rPr lang="en-US" dirty="0" smtClean="0"/>
              <a:t>for </a:t>
            </a:r>
            <a:r>
              <a:rPr lang="en-US" dirty="0" err="1" smtClean="0"/>
              <a:t>Baksan</a:t>
            </a:r>
            <a:r>
              <a:rPr lang="en-US" dirty="0" smtClean="0"/>
              <a:t> River catchment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292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833" t="16367" r="-833" b="7677"/>
          <a:stretch/>
        </p:blipFill>
        <p:spPr>
          <a:xfrm>
            <a:off x="0" y="0"/>
            <a:ext cx="12192000" cy="693783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18667" y="0"/>
            <a:ext cx="10515600" cy="1325563"/>
          </a:xfrm>
        </p:spPr>
        <p:txBody>
          <a:bodyPr/>
          <a:lstStyle/>
          <a:p>
            <a:pPr algn="ctr"/>
            <a:r>
              <a:rPr lang="en-US" dirty="0" smtClean="0"/>
              <a:t>Methods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8828972" y="6568498"/>
            <a:ext cx="26330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Djankuat creek catchment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9522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smtClean="0"/>
              <a:t>Moscow State University and Russian academy of Science monitoring 2015 - 2026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" y="1470969"/>
            <a:ext cx="4471416" cy="5241624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2680B8"/>
                </a:solidFill>
              </a:rPr>
              <a:t>	</a:t>
            </a:r>
            <a:r>
              <a:rPr lang="en-US" u="sng" dirty="0" smtClean="0">
                <a:solidFill>
                  <a:srgbClr val="2680B8"/>
                </a:solidFill>
              </a:rPr>
              <a:t>Hydrological gauges: </a:t>
            </a:r>
          </a:p>
          <a:p>
            <a:pPr marL="514350" indent="-514350">
              <a:buAutoNum type="arabicPeriod"/>
            </a:pPr>
            <a:r>
              <a:rPr lang="en-US" i="1" dirty="0" smtClean="0">
                <a:solidFill>
                  <a:srgbClr val="00B050"/>
                </a:solidFill>
              </a:rPr>
              <a:t>Djankuat creek </a:t>
            </a:r>
          </a:p>
          <a:p>
            <a:pPr marL="0" indent="0">
              <a:buNone/>
            </a:pPr>
            <a:r>
              <a:rPr lang="ru-RU" dirty="0" smtClean="0"/>
              <a:t>(</a:t>
            </a:r>
            <a:r>
              <a:rPr lang="en-US" dirty="0"/>
              <a:t>F = </a:t>
            </a:r>
            <a:r>
              <a:rPr lang="en-US" dirty="0" smtClean="0"/>
              <a:t>8 </a:t>
            </a:r>
            <a:r>
              <a:rPr lang="en-US" dirty="0"/>
              <a:t>km², </a:t>
            </a:r>
            <a:r>
              <a:rPr lang="en-US" dirty="0" smtClean="0"/>
              <a:t>Q = </a:t>
            </a:r>
            <a:r>
              <a:rPr lang="en-US" dirty="0"/>
              <a:t>1.5 m³/s</a:t>
            </a:r>
            <a:r>
              <a:rPr lang="en-US" dirty="0" smtClean="0"/>
              <a:t>, </a:t>
            </a:r>
            <a:r>
              <a:rPr lang="en-US" dirty="0" err="1" smtClean="0"/>
              <a:t>Elev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3200 m, 2015-2026)</a:t>
            </a:r>
            <a:endParaRPr lang="ru-RU" dirty="0" smtClean="0"/>
          </a:p>
          <a:p>
            <a:pPr marL="0" indent="0">
              <a:buNone/>
            </a:pPr>
            <a:r>
              <a:rPr lang="en-US" i="1" dirty="0" smtClean="0">
                <a:solidFill>
                  <a:srgbClr val="00B050"/>
                </a:solidFill>
              </a:rPr>
              <a:t>2. </a:t>
            </a:r>
            <a:r>
              <a:rPr lang="en-US" i="1" dirty="0" err="1" smtClean="0">
                <a:solidFill>
                  <a:srgbClr val="00B050"/>
                </a:solidFill>
              </a:rPr>
              <a:t>Zayukovo</a:t>
            </a:r>
            <a:r>
              <a:rPr lang="en-US" i="1" dirty="0" smtClean="0">
                <a:solidFill>
                  <a:srgbClr val="00B050"/>
                </a:solidFill>
              </a:rPr>
              <a:t>, </a:t>
            </a:r>
            <a:r>
              <a:rPr lang="en-US" i="1" dirty="0" err="1" smtClean="0">
                <a:solidFill>
                  <a:srgbClr val="00B050"/>
                </a:solidFill>
              </a:rPr>
              <a:t>Baksan</a:t>
            </a:r>
            <a:r>
              <a:rPr lang="en-US" i="1" dirty="0" smtClean="0">
                <a:solidFill>
                  <a:srgbClr val="00B050"/>
                </a:solidFill>
              </a:rPr>
              <a:t> river </a:t>
            </a:r>
          </a:p>
          <a:p>
            <a:pPr marL="0" indent="0">
              <a:buNone/>
            </a:pPr>
            <a:r>
              <a:rPr lang="ru-RU" dirty="0" smtClean="0"/>
              <a:t>(</a:t>
            </a:r>
            <a:r>
              <a:rPr lang="en-US" dirty="0"/>
              <a:t>F = </a:t>
            </a:r>
            <a:r>
              <a:rPr lang="en-US" dirty="0" smtClean="0"/>
              <a:t>2100 km², Q = </a:t>
            </a:r>
            <a:r>
              <a:rPr lang="en-US" dirty="0"/>
              <a:t>34.9 m³/s</a:t>
            </a:r>
            <a:r>
              <a:rPr lang="en-US" dirty="0" smtClean="0"/>
              <a:t>, </a:t>
            </a:r>
            <a:r>
              <a:rPr lang="en-US" dirty="0" err="1" smtClean="0"/>
              <a:t>Elev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ru-RU" dirty="0" smtClean="0"/>
              <a:t>2360</a:t>
            </a:r>
            <a:r>
              <a:rPr lang="en-US" dirty="0" smtClean="0"/>
              <a:t> m, 2025 </a:t>
            </a:r>
            <a:r>
              <a:rPr lang="en-US" dirty="0"/>
              <a:t>– 2026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i="1" dirty="0" smtClean="0">
                <a:solidFill>
                  <a:srgbClr val="00B050"/>
                </a:solidFill>
              </a:rPr>
              <a:t>3. </a:t>
            </a:r>
            <a:r>
              <a:rPr lang="en-US" i="1" dirty="0" err="1" smtClean="0">
                <a:solidFill>
                  <a:srgbClr val="00B050"/>
                </a:solidFill>
              </a:rPr>
              <a:t>Tyrnauz</a:t>
            </a:r>
            <a:r>
              <a:rPr lang="en-US" i="1" dirty="0" smtClean="0">
                <a:solidFill>
                  <a:srgbClr val="00B050"/>
                </a:solidFill>
              </a:rPr>
              <a:t>, </a:t>
            </a:r>
            <a:r>
              <a:rPr lang="en-US" i="1" dirty="0" err="1" smtClean="0">
                <a:solidFill>
                  <a:srgbClr val="00B050"/>
                </a:solidFill>
              </a:rPr>
              <a:t>Baksan</a:t>
            </a:r>
            <a:r>
              <a:rPr lang="en-US" i="1" dirty="0" smtClean="0">
                <a:solidFill>
                  <a:srgbClr val="00B050"/>
                </a:solidFill>
              </a:rPr>
              <a:t> river</a:t>
            </a:r>
          </a:p>
          <a:p>
            <a:pPr marL="0" indent="0">
              <a:buNone/>
            </a:pPr>
            <a:r>
              <a:rPr lang="ru-RU" dirty="0" smtClean="0"/>
              <a:t>(</a:t>
            </a:r>
            <a:r>
              <a:rPr lang="en-US" dirty="0"/>
              <a:t>F = </a:t>
            </a:r>
            <a:r>
              <a:rPr lang="en-US" dirty="0" smtClean="0"/>
              <a:t>838 </a:t>
            </a:r>
            <a:r>
              <a:rPr lang="en-US" dirty="0"/>
              <a:t>km², </a:t>
            </a:r>
            <a:r>
              <a:rPr lang="en-US" dirty="0" smtClean="0"/>
              <a:t>Q = </a:t>
            </a:r>
            <a:r>
              <a:rPr lang="en-US" dirty="0"/>
              <a:t>23.9 </a:t>
            </a:r>
            <a:r>
              <a:rPr lang="en-US" dirty="0" smtClean="0"/>
              <a:t>m³/s, </a:t>
            </a:r>
            <a:r>
              <a:rPr lang="en-US" dirty="0" err="1" smtClean="0"/>
              <a:t>Elev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ru-RU" dirty="0" smtClean="0"/>
              <a:t>2</a:t>
            </a:r>
            <a:r>
              <a:rPr lang="en-US" dirty="0" smtClean="0"/>
              <a:t>990 m, 2025 </a:t>
            </a:r>
            <a:r>
              <a:rPr lang="en-US" dirty="0"/>
              <a:t>– 2026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2680B8"/>
                </a:solidFill>
              </a:rPr>
              <a:t>	</a:t>
            </a:r>
            <a:endParaRPr lang="en-US" dirty="0" smtClean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531" y="1335347"/>
            <a:ext cx="7330558" cy="5512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30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 smtClean="0"/>
              <a:t>Moscow State University and Russian academy of Science monitoring 2015 - 2026</a:t>
            </a:r>
            <a:endParaRPr lang="ru-RU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901604"/>
              </p:ext>
            </p:extLst>
          </p:nvPr>
        </p:nvGraphicFramePr>
        <p:xfrm>
          <a:off x="-32511" y="1346842"/>
          <a:ext cx="7452360" cy="5585477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2759871">
                  <a:extLst>
                    <a:ext uri="{9D8B030D-6E8A-4147-A177-3AD203B41FA5}">
                      <a16:colId xmlns:a16="http://schemas.microsoft.com/office/drawing/2014/main" val="3562847114"/>
                    </a:ext>
                  </a:extLst>
                </a:gridCol>
                <a:gridCol w="2759871">
                  <a:extLst>
                    <a:ext uri="{9D8B030D-6E8A-4147-A177-3AD203B41FA5}">
                      <a16:colId xmlns:a16="http://schemas.microsoft.com/office/drawing/2014/main" val="2381117384"/>
                    </a:ext>
                  </a:extLst>
                </a:gridCol>
                <a:gridCol w="1932618">
                  <a:extLst>
                    <a:ext uri="{9D8B030D-6E8A-4147-A177-3AD203B41FA5}">
                      <a16:colId xmlns:a16="http://schemas.microsoft.com/office/drawing/2014/main" val="3584693700"/>
                    </a:ext>
                  </a:extLst>
                </a:gridCol>
              </a:tblGrid>
              <a:tr h="2992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Data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Source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Time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  <a:effectLst/>
                        </a:rPr>
                        <a:t> resolution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320525"/>
                  </a:ext>
                </a:extLst>
              </a:tr>
              <a:tr h="299208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Water runoff, Q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Governmental gauge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1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 day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072295"/>
                  </a:ext>
                </a:extLst>
              </a:tr>
              <a:tr h="299208"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Water runoff measurement on Djankuat</a:t>
                      </a:r>
                      <a:endParaRPr lang="ru-RU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20-30 times for year</a:t>
                      </a:r>
                      <a:endParaRPr lang="ru-RU" sz="1800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334639"/>
                  </a:ext>
                </a:extLst>
              </a:tr>
              <a:tr h="29920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Water level, H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Water level logger</a:t>
                      </a:r>
                      <a:endParaRPr lang="ru-RU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30 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minutes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663067"/>
                  </a:ext>
                </a:extLst>
              </a:tr>
              <a:tr h="1196832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Turbidity, SSC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Turbidity logger</a:t>
                      </a:r>
                      <a:endParaRPr lang="ru-RU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1 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minute</a:t>
                      </a:r>
                      <a:r>
                        <a:rPr lang="ru-RU" sz="1800" dirty="0" smtClean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– </a:t>
                      </a:r>
                      <a:r>
                        <a:rPr lang="en-US" sz="1800" dirty="0" err="1" smtClean="0">
                          <a:solidFill>
                            <a:schemeClr val="tx1"/>
                          </a:solidFill>
                          <a:effectLst/>
                        </a:rPr>
                        <a:t>Tyrnauz</a:t>
                      </a:r>
                      <a:r>
                        <a:rPr lang="ru-RU" sz="1800" dirty="0" smtClean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en-US" sz="1800" dirty="0" err="1" smtClean="0">
                          <a:solidFill>
                            <a:schemeClr val="tx1"/>
                          </a:solidFill>
                          <a:effectLst/>
                        </a:rPr>
                        <a:t>Zayukovo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  <a:effectLst/>
                        </a:rPr>
                        <a:t> times per day</a:t>
                      </a:r>
                      <a:r>
                        <a:rPr lang="ru-RU" sz="1800" dirty="0" smtClean="0">
                          <a:solidFill>
                            <a:schemeClr val="tx1"/>
                          </a:solidFill>
                          <a:effectLst/>
                        </a:rPr>
                        <a:t>– 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Djankuat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460480"/>
                  </a:ext>
                </a:extLst>
              </a:tr>
              <a:tr h="59841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Water sampling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3-8 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times per month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9693981"/>
                  </a:ext>
                </a:extLst>
              </a:tr>
              <a:tr h="598416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Meteorology,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  <a:effectLst/>
                        </a:rPr>
                        <a:t> P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Governmental </a:t>
                      </a:r>
                      <a:r>
                        <a:rPr lang="en-US" sz="1800" dirty="0" err="1" smtClean="0">
                          <a:solidFill>
                            <a:schemeClr val="tx1"/>
                          </a:solidFill>
                          <a:effectLst/>
                        </a:rPr>
                        <a:t>meteostation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 smtClean="0">
                          <a:solidFill>
                            <a:schemeClr val="tx1"/>
                          </a:solidFill>
                          <a:effectLst/>
                        </a:rPr>
                        <a:t>Tyrnauz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en-US" sz="1800" dirty="0" err="1" smtClean="0">
                          <a:solidFill>
                            <a:schemeClr val="tx1"/>
                          </a:solidFill>
                          <a:effectLst/>
                        </a:rPr>
                        <a:t>Cheget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en-US" sz="1800" dirty="0" err="1" smtClean="0">
                          <a:solidFill>
                            <a:schemeClr val="tx1"/>
                          </a:solidFill>
                          <a:effectLst/>
                        </a:rPr>
                        <a:t>Terskol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 - </a:t>
                      </a:r>
                      <a:r>
                        <a:rPr lang="ru-RU" sz="1800" dirty="0" smtClean="0">
                          <a:solidFill>
                            <a:schemeClr val="tx1"/>
                          </a:solidFill>
                          <a:effectLst/>
                        </a:rPr>
                        <a:t>3 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hours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457405"/>
                  </a:ext>
                </a:extLst>
              </a:tr>
              <a:tr h="894550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Device </a:t>
                      </a:r>
                      <a:r>
                        <a:rPr lang="en-US" sz="1800" dirty="0" err="1" smtClean="0">
                          <a:solidFill>
                            <a:schemeClr val="tx1"/>
                          </a:solidFill>
                          <a:effectLst/>
                        </a:rPr>
                        <a:t>meteostation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 smtClean="0">
                          <a:solidFill>
                            <a:schemeClr val="tx1"/>
                          </a:solidFill>
                          <a:effectLst/>
                        </a:rPr>
                        <a:t>Tyrnauz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  <a:effectLst/>
                        </a:rPr>
                        <a:t>, Djankuat - </a:t>
                      </a:r>
                      <a:r>
                        <a:rPr lang="ru-RU" sz="1800" dirty="0" smtClean="0">
                          <a:solidFill>
                            <a:schemeClr val="tx1"/>
                          </a:solidFill>
                          <a:effectLst/>
                        </a:rPr>
                        <a:t>30 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minutes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560152"/>
                  </a:ext>
                </a:extLst>
              </a:tr>
              <a:tr h="589843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Aquatic</a:t>
                      </a:r>
                      <a:r>
                        <a:rPr lang="en-US" sz="1800" baseline="0" dirty="0" smtClean="0">
                          <a:solidFill>
                            <a:schemeClr val="tx1"/>
                          </a:solidFill>
                          <a:effectLst/>
                        </a:rPr>
                        <a:t> rain measurements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 smtClean="0">
                          <a:solidFill>
                            <a:schemeClr val="tx1"/>
                          </a:solidFill>
                          <a:effectLst/>
                        </a:rPr>
                        <a:t>Azau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 - </a:t>
                      </a:r>
                      <a:r>
                        <a:rPr lang="ru-RU" sz="1800" dirty="0" smtClean="0">
                          <a:solidFill>
                            <a:schemeClr val="tx1"/>
                          </a:solidFill>
                          <a:effectLst/>
                        </a:rPr>
                        <a:t>1 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effectLst/>
                        </a:rPr>
                        <a:t>hour</a:t>
                      </a:r>
                      <a:endParaRPr lang="ru-RU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17780" marR="177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154087"/>
                  </a:ext>
                </a:extLst>
              </a:tr>
            </a:tbl>
          </a:graphicData>
        </a:graphic>
      </p:graphicFrame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6" t="15967" b="3702"/>
          <a:stretch/>
        </p:blipFill>
        <p:spPr>
          <a:xfrm>
            <a:off x="8030091" y="1527081"/>
            <a:ext cx="3597910" cy="2157985"/>
          </a:xfrm>
          <a:prstGeom prst="rect">
            <a:avLst/>
          </a:prstGeom>
        </p:spPr>
      </p:pic>
      <p:pic>
        <p:nvPicPr>
          <p:cNvPr id="1025" name="Рисунок 4" descr="D:\Rproc\kazakhstan_iahs_abstract\Рис.4_зависимость dj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2" t="13653" b="4083"/>
          <a:stretch/>
        </p:blipFill>
        <p:spPr bwMode="auto">
          <a:xfrm>
            <a:off x="8030091" y="4126182"/>
            <a:ext cx="3666871" cy="2191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 rot="16200000">
            <a:off x="7308675" y="2219832"/>
            <a:ext cx="1073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SSC, mg/l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 rot="16200000">
            <a:off x="7204476" y="4983883"/>
            <a:ext cx="1073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SSC, mg/l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9326776" y="3704504"/>
            <a:ext cx="1518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Turbidity, NTU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9250576" y="6318018"/>
            <a:ext cx="1518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Turbidity, NTU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8391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670"/>
          <a:stretch/>
        </p:blipFill>
        <p:spPr>
          <a:xfrm>
            <a:off x="0" y="-30162"/>
            <a:ext cx="12192000" cy="6888162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5200" y="-67627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ru-RU" sz="5400" dirty="0" smtClean="0"/>
          </a:p>
          <a:p>
            <a:pPr marL="0" indent="0" algn="ctr">
              <a:buNone/>
            </a:pPr>
            <a:r>
              <a:rPr lang="en-US" sz="5400" dirty="0" smtClean="0"/>
              <a:t>Results</a:t>
            </a:r>
            <a:endParaRPr lang="ru-RU" sz="54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6488668"/>
            <a:ext cx="4478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Djankuat creek catchment, photo from glacier</a:t>
            </a:r>
            <a:endParaRPr lang="ru-RU" dirty="0"/>
          </a:p>
        </p:txBody>
      </p:sp>
      <p:sp>
        <p:nvSpPr>
          <p:cNvPr id="6" name="Равнобедренный треугольник 5"/>
          <p:cNvSpPr/>
          <p:nvPr/>
        </p:nvSpPr>
        <p:spPr>
          <a:xfrm rot="10800000">
            <a:off x="4600575" y="5543550"/>
            <a:ext cx="238125" cy="24765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4178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85" y="0"/>
            <a:ext cx="10515600" cy="1325563"/>
          </a:xfrm>
        </p:spPr>
        <p:txBody>
          <a:bodyPr/>
          <a:lstStyle/>
          <a:p>
            <a:r>
              <a:rPr lang="en-US" dirty="0" smtClean="0"/>
              <a:t>Djankuat creek</a:t>
            </a:r>
            <a:endParaRPr lang="ru-RU" dirty="0"/>
          </a:p>
        </p:txBody>
      </p:sp>
      <p:sp>
        <p:nvSpPr>
          <p:cNvPr id="6" name="Объект 2"/>
          <p:cNvSpPr txBox="1">
            <a:spLocks/>
          </p:cNvSpPr>
          <p:nvPr/>
        </p:nvSpPr>
        <p:spPr>
          <a:xfrm>
            <a:off x="0" y="1223963"/>
            <a:ext cx="3730172" cy="5191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Turbidity measurements 7 times a day</a:t>
            </a:r>
          </a:p>
          <a:p>
            <a:r>
              <a:rPr lang="en-US" dirty="0" smtClean="0"/>
              <a:t>Period of measurements 2015-2025</a:t>
            </a:r>
          </a:p>
          <a:p>
            <a:pPr marL="0" indent="0">
              <a:buNone/>
            </a:pPr>
            <a:endParaRPr lang="en-US" dirty="0" smtClean="0"/>
          </a:p>
          <a:p>
            <a:endParaRPr lang="ru-RU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431" y="739153"/>
            <a:ext cx="7569711" cy="5522569"/>
          </a:xfrm>
        </p:spPr>
      </p:pic>
      <p:sp>
        <p:nvSpPr>
          <p:cNvPr id="3" name="TextBox 2"/>
          <p:cNvSpPr txBox="1"/>
          <p:nvPr/>
        </p:nvSpPr>
        <p:spPr>
          <a:xfrm>
            <a:off x="10427477" y="5980923"/>
            <a:ext cx="147423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700" dirty="0" smtClean="0"/>
              <a:t>, </a:t>
            </a:r>
            <a:r>
              <a:rPr lang="en-US" sz="1700" dirty="0" smtClean="0"/>
              <a:t>2025</a:t>
            </a:r>
            <a:endParaRPr lang="ru-RU" sz="17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949440" y="3099816"/>
            <a:ext cx="2898648" cy="3108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5346700" y="444500"/>
            <a:ext cx="2164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Djankuat creek, 2025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2631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396535"/>
            <a:ext cx="10515600" cy="1325563"/>
          </a:xfrm>
        </p:spPr>
        <p:txBody>
          <a:bodyPr/>
          <a:lstStyle/>
          <a:p>
            <a:r>
              <a:rPr lang="en-US" dirty="0" err="1" smtClean="0"/>
              <a:t>Baksan</a:t>
            </a:r>
            <a:r>
              <a:rPr lang="en-US" dirty="0" smtClean="0"/>
              <a:t> river</a:t>
            </a:r>
            <a:endParaRPr lang="ru-RU" dirty="0"/>
          </a:p>
        </p:txBody>
      </p:sp>
      <p:pic>
        <p:nvPicPr>
          <p:cNvPr id="11" name="Объект 10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604"/>
          <a:stretch/>
        </p:blipFill>
        <p:spPr>
          <a:xfrm>
            <a:off x="3730172" y="72690"/>
            <a:ext cx="8359725" cy="4165935"/>
          </a:xfrm>
        </p:spPr>
      </p:pic>
      <p:sp>
        <p:nvSpPr>
          <p:cNvPr id="12" name="Объект 2"/>
          <p:cNvSpPr txBox="1">
            <a:spLocks/>
          </p:cNvSpPr>
          <p:nvPr/>
        </p:nvSpPr>
        <p:spPr>
          <a:xfrm>
            <a:off x="-17265" y="669274"/>
            <a:ext cx="3730172" cy="5191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Two turbidity loggers upstream (</a:t>
            </a:r>
            <a:r>
              <a:rPr lang="en-US" dirty="0" err="1" smtClean="0"/>
              <a:t>Tyrnauz</a:t>
            </a:r>
            <a:r>
              <a:rPr lang="en-US" dirty="0" smtClean="0"/>
              <a:t>) and downstream (</a:t>
            </a:r>
            <a:r>
              <a:rPr lang="en-US" dirty="0" err="1" smtClean="0"/>
              <a:t>Zayukovo</a:t>
            </a:r>
            <a:r>
              <a:rPr lang="en-US" dirty="0" smtClean="0"/>
              <a:t>)</a:t>
            </a:r>
          </a:p>
          <a:p>
            <a:r>
              <a:rPr lang="en-US" dirty="0" smtClean="0"/>
              <a:t>Period of measurements 2025:</a:t>
            </a:r>
          </a:p>
          <a:p>
            <a:r>
              <a:rPr lang="en-US" dirty="0" smtClean="0"/>
              <a:t>Big debris flow at </a:t>
            </a:r>
            <a:r>
              <a:rPr lang="en-US" dirty="0" err="1" smtClean="0"/>
              <a:t>Girhozhan</a:t>
            </a:r>
            <a:r>
              <a:rPr lang="en-US" dirty="0" smtClean="0"/>
              <a:t>-Su (21,31 July)</a:t>
            </a:r>
          </a:p>
          <a:p>
            <a:r>
              <a:rPr lang="en-US" dirty="0" smtClean="0"/>
              <a:t>GLOF of </a:t>
            </a:r>
            <a:r>
              <a:rPr lang="en-US" dirty="0" err="1" smtClean="0"/>
              <a:t>Azau</a:t>
            </a:r>
            <a:r>
              <a:rPr lang="en-US" dirty="0" smtClean="0"/>
              <a:t> lake (6 August)</a:t>
            </a:r>
          </a:p>
          <a:p>
            <a:endParaRPr lang="en-US" dirty="0" smtClean="0"/>
          </a:p>
          <a:p>
            <a:endParaRPr lang="ru-RU" dirty="0"/>
          </a:p>
        </p:txBody>
      </p:sp>
      <p:grpSp>
        <p:nvGrpSpPr>
          <p:cNvPr id="13" name="Группа 12"/>
          <p:cNvGrpSpPr/>
          <p:nvPr/>
        </p:nvGrpSpPr>
        <p:grpSpPr>
          <a:xfrm>
            <a:off x="5124449" y="4340829"/>
            <a:ext cx="6564338" cy="2236398"/>
            <a:chOff x="58222" y="3661277"/>
            <a:chExt cx="8825425" cy="2880421"/>
          </a:xfrm>
        </p:grpSpPr>
        <p:grpSp>
          <p:nvGrpSpPr>
            <p:cNvPr id="14" name="Группа 13"/>
            <p:cNvGrpSpPr/>
            <p:nvPr/>
          </p:nvGrpSpPr>
          <p:grpSpPr>
            <a:xfrm>
              <a:off x="638175" y="4034407"/>
              <a:ext cx="8245472" cy="2507291"/>
              <a:chOff x="-1581150" y="4072507"/>
              <a:chExt cx="8245472" cy="2507291"/>
            </a:xfrm>
          </p:grpSpPr>
          <p:grpSp>
            <p:nvGrpSpPr>
              <p:cNvPr id="19" name="Группа 18"/>
              <p:cNvGrpSpPr/>
              <p:nvPr/>
            </p:nvGrpSpPr>
            <p:grpSpPr>
              <a:xfrm>
                <a:off x="-1581150" y="5026614"/>
                <a:ext cx="6360729" cy="872826"/>
                <a:chOff x="-1316197" y="4546215"/>
                <a:chExt cx="5275422" cy="905973"/>
              </a:xfrm>
            </p:grpSpPr>
            <p:cxnSp>
              <p:nvCxnSpPr>
                <p:cNvPr id="26" name="Прямая соединительная линия 25"/>
                <p:cNvCxnSpPr/>
                <p:nvPr/>
              </p:nvCxnSpPr>
              <p:spPr>
                <a:xfrm flipV="1">
                  <a:off x="-1316197" y="5432425"/>
                  <a:ext cx="5275422" cy="19763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Прямая соединительная линия 26"/>
                <p:cNvCxnSpPr/>
                <p:nvPr/>
              </p:nvCxnSpPr>
              <p:spPr>
                <a:xfrm>
                  <a:off x="2112310" y="4546215"/>
                  <a:ext cx="18115" cy="886213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TextBox 19"/>
              <p:cNvSpPr txBox="1"/>
              <p:nvPr/>
            </p:nvSpPr>
            <p:spPr>
              <a:xfrm>
                <a:off x="-165168" y="6056578"/>
                <a:ext cx="132093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 err="1" smtClean="0">
                    <a:solidFill>
                      <a:srgbClr val="0F6EAF"/>
                    </a:solidFill>
                  </a:rPr>
                  <a:t>Tyrnauz</a:t>
                </a:r>
                <a:endParaRPr lang="ru-RU" sz="2800" dirty="0">
                  <a:solidFill>
                    <a:srgbClr val="0F6EAF"/>
                  </a:solidFill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3817552" y="6012189"/>
                <a:ext cx="155382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 err="1" smtClean="0">
                    <a:solidFill>
                      <a:srgbClr val="FF0000"/>
                    </a:solidFill>
                  </a:rPr>
                  <a:t>Zayukovo</a:t>
                </a:r>
                <a:endParaRPr lang="ru-RU" sz="28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1755131" y="4072507"/>
                <a:ext cx="4909191" cy="12288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 err="1" smtClean="0"/>
                  <a:t>Girhozahan-su</a:t>
                </a:r>
                <a:r>
                  <a:rPr lang="en-US" sz="2800" dirty="0" smtClean="0"/>
                  <a:t> tributary</a:t>
                </a:r>
              </a:p>
              <a:p>
                <a:r>
                  <a:rPr lang="en-US" sz="2800" dirty="0" smtClean="0"/>
                  <a:t>(Debris flow event)</a:t>
                </a:r>
                <a:endParaRPr lang="ru-RU" sz="2800" dirty="0"/>
              </a:p>
            </p:txBody>
          </p:sp>
          <p:sp>
            <p:nvSpPr>
              <p:cNvPr id="23" name="Овал 22"/>
              <p:cNvSpPr/>
              <p:nvPr/>
            </p:nvSpPr>
            <p:spPr>
              <a:xfrm>
                <a:off x="4403964" y="5930834"/>
                <a:ext cx="190500" cy="180601"/>
              </a:xfrm>
              <a:prstGeom prst="ellipse">
                <a:avLst/>
              </a:prstGeom>
              <a:solidFill>
                <a:srgbClr val="E31A1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4" name="Овал 23"/>
              <p:cNvSpPr/>
              <p:nvPr/>
            </p:nvSpPr>
            <p:spPr>
              <a:xfrm>
                <a:off x="304802" y="5941393"/>
                <a:ext cx="190500" cy="180601"/>
              </a:xfrm>
              <a:prstGeom prst="ellipse">
                <a:avLst/>
              </a:prstGeom>
              <a:solidFill>
                <a:srgbClr val="2680B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cxnSp>
          <p:nvCxnSpPr>
            <p:cNvPr id="15" name="Прямая соединительная линия 14"/>
            <p:cNvCxnSpPr/>
            <p:nvPr/>
          </p:nvCxnSpPr>
          <p:spPr>
            <a:xfrm>
              <a:off x="1069500" y="4988514"/>
              <a:ext cx="19142" cy="841555"/>
            </a:xfrm>
            <a:prstGeom prst="line">
              <a:avLst/>
            </a:prstGeom>
            <a:ln w="571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58222" y="4380900"/>
              <a:ext cx="26246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err="1" smtClean="0"/>
                <a:t>Azau</a:t>
              </a:r>
              <a:r>
                <a:rPr lang="en-US" sz="2800" dirty="0" smtClean="0"/>
                <a:t> lake (GLOF)</a:t>
              </a:r>
              <a:endParaRPr lang="ru-RU" sz="2800" dirty="0"/>
            </a:p>
          </p:txBody>
        </p:sp>
        <p:sp>
          <p:nvSpPr>
            <p:cNvPr id="17" name="5-конечная звезда 16"/>
            <p:cNvSpPr/>
            <p:nvPr/>
          </p:nvSpPr>
          <p:spPr>
            <a:xfrm>
              <a:off x="650400" y="3661277"/>
              <a:ext cx="692625" cy="677670"/>
            </a:xfrm>
            <a:prstGeom prst="star5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5-конечная звезда 17"/>
            <p:cNvSpPr/>
            <p:nvPr/>
          </p:nvSpPr>
          <p:spPr>
            <a:xfrm>
              <a:off x="4416063" y="3693734"/>
              <a:ext cx="602138" cy="562485"/>
            </a:xfrm>
            <a:prstGeom prst="star5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8" name="5-конечная звезда 27"/>
          <p:cNvSpPr/>
          <p:nvPr/>
        </p:nvSpPr>
        <p:spPr>
          <a:xfrm>
            <a:off x="9460635" y="187929"/>
            <a:ext cx="515173" cy="526152"/>
          </a:xfrm>
          <a:prstGeom prst="star5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5-конечная звезда 28"/>
          <p:cNvSpPr/>
          <p:nvPr/>
        </p:nvSpPr>
        <p:spPr>
          <a:xfrm>
            <a:off x="8190823" y="232553"/>
            <a:ext cx="447869" cy="436721"/>
          </a:xfrm>
          <a:prstGeom prst="star5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5-конечная звезда 29"/>
          <p:cNvSpPr/>
          <p:nvPr/>
        </p:nvSpPr>
        <p:spPr>
          <a:xfrm>
            <a:off x="8561164" y="225792"/>
            <a:ext cx="447869" cy="436721"/>
          </a:xfrm>
          <a:prstGeom prst="star5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/>
          <p:cNvSpPr txBox="1"/>
          <p:nvPr/>
        </p:nvSpPr>
        <p:spPr>
          <a:xfrm>
            <a:off x="4221697" y="81581"/>
            <a:ext cx="1474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2025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960" y="5304434"/>
            <a:ext cx="3211490" cy="116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156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l="8946" b="27804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1" y="-41592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ru-RU" sz="5400" dirty="0" smtClean="0"/>
          </a:p>
          <a:p>
            <a:pPr marL="0" indent="0" algn="ctr">
              <a:buNone/>
            </a:pPr>
            <a:r>
              <a:rPr lang="en-US" sz="5400" dirty="0" smtClean="0"/>
              <a:t>Sediment flow dynamics analyses</a:t>
            </a:r>
            <a:endParaRPr lang="ru-RU" sz="54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6488668"/>
            <a:ext cx="3097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Baksan</a:t>
            </a:r>
            <a:r>
              <a:rPr lang="en-US" dirty="0" smtClean="0">
                <a:solidFill>
                  <a:schemeClr val="bg1"/>
                </a:solidFill>
              </a:rPr>
              <a:t> river, upstream </a:t>
            </a:r>
            <a:r>
              <a:rPr lang="en-US" dirty="0" err="1" smtClean="0">
                <a:solidFill>
                  <a:schemeClr val="bg1"/>
                </a:solidFill>
              </a:rPr>
              <a:t>Tyrnauz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083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ru-RU" sz="5400" dirty="0" smtClean="0"/>
          </a:p>
          <a:p>
            <a:pPr marL="0" indent="0" algn="ctr">
              <a:buNone/>
            </a:pPr>
            <a:r>
              <a:rPr lang="en-US" sz="5400" dirty="0" smtClean="0"/>
              <a:t>Sediment flux hysteresis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151973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" y="-14284"/>
            <a:ext cx="10515600" cy="938210"/>
          </a:xfrm>
        </p:spPr>
        <p:txBody>
          <a:bodyPr/>
          <a:lstStyle/>
          <a:p>
            <a:r>
              <a:rPr lang="en-US" dirty="0" smtClean="0"/>
              <a:t>Sediment flux hysteresis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37" t="94584" r="34922" b="695"/>
          <a:stretch/>
        </p:blipFill>
        <p:spPr>
          <a:xfrm>
            <a:off x="2661323" y="3353669"/>
            <a:ext cx="6916977" cy="538163"/>
          </a:xfrm>
          <a:prstGeom prst="rect">
            <a:avLst/>
          </a:prstGeom>
        </p:spPr>
      </p:pic>
      <p:grpSp>
        <p:nvGrpSpPr>
          <p:cNvPr id="10" name="Группа 9"/>
          <p:cNvGrpSpPr/>
          <p:nvPr/>
        </p:nvGrpSpPr>
        <p:grpSpPr>
          <a:xfrm>
            <a:off x="3017557" y="796487"/>
            <a:ext cx="2143125" cy="2066923"/>
            <a:chOff x="1933575" y="1876428"/>
            <a:chExt cx="2143125" cy="2066923"/>
          </a:xfrm>
        </p:grpSpPr>
        <p:sp>
          <p:nvSpPr>
            <p:cNvPr id="4" name="Прямоугольник 3"/>
            <p:cNvSpPr/>
            <p:nvPr/>
          </p:nvSpPr>
          <p:spPr>
            <a:xfrm>
              <a:off x="1933575" y="1985963"/>
              <a:ext cx="2143125" cy="1924050"/>
            </a:xfrm>
            <a:prstGeom prst="rect">
              <a:avLst/>
            </a:prstGeom>
            <a:solidFill>
              <a:srgbClr val="CAE4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8" name="Рисунок 7"/>
            <p:cNvPicPr>
              <a:picLocks noChangeAspect="1"/>
            </p:cNvPicPr>
            <p:nvPr/>
          </p:nvPicPr>
          <p:blipFill rotWithShape="1">
            <a:blip r:embed="rId4">
              <a:duotone>
                <a:prstClr val="black"/>
                <a:schemeClr val="tx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242" b="90000" l="2655" r="40118"/>
                      </a14:imgEffect>
                    </a14:imgLayer>
                  </a14:imgProps>
                </a:ext>
              </a:extLst>
            </a:blip>
            <a:srcRect l="7080" t="-757" r="60029" b="33939"/>
            <a:stretch/>
          </p:blipFill>
          <p:spPr>
            <a:xfrm rot="19544553" flipH="1">
              <a:off x="2033855" y="1876428"/>
              <a:ext cx="1942564" cy="2066923"/>
            </a:xfrm>
            <a:prstGeom prst="rect">
              <a:avLst/>
            </a:prstGeom>
          </p:spPr>
        </p:pic>
      </p:grpSp>
      <p:sp>
        <p:nvSpPr>
          <p:cNvPr id="12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7625" y="4069246"/>
            <a:ext cx="1214437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Clockwise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Hysteresis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—SSC</a:t>
            </a:r>
            <a:r>
              <a:rPr kumimoji="0" lang="ru-RU" altLang="ru-RU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</a:t>
            </a:r>
            <a:r>
              <a:rPr kumimoji="0" lang="ru-RU" altLang="ru-RU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precedes</a:t>
            </a:r>
            <a:r>
              <a:rPr kumimoji="0" lang="ru-RU" altLang="ru-RU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</a:t>
            </a:r>
            <a:r>
              <a:rPr kumimoji="0" lang="ru-RU" altLang="ru-RU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Dominant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Origin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Channel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Near-Stream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Sources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in-channel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deposits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riverbank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collapse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periglacial zone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Transport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Dynamics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Rapid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flushing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easily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erodible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sediment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near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gauging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station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before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hydrograph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occurs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Negative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Anti-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Clockwise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Hysteresis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SSC</a:t>
            </a:r>
            <a:r>
              <a:rPr kumimoji="0" lang="ru-RU" altLang="ru-RU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</a:t>
            </a:r>
            <a:r>
              <a:rPr kumimoji="0" lang="ru-RU" altLang="ru-RU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lags</a:t>
            </a:r>
            <a:r>
              <a:rPr kumimoji="0" lang="ru-RU" altLang="ru-RU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behind</a:t>
            </a:r>
            <a:r>
              <a:rPr kumimoji="0" lang="ru-RU" altLang="ru-RU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</a:t>
            </a:r>
            <a:r>
              <a:rPr kumimoji="0" lang="ru-RU" altLang="ru-RU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Dominant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Origin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Catchment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Hillslope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Sources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arable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land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hillslope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gullies</a:t>
            </a:r>
            <a:r>
              <a:rPr kumimoji="0" lang="en-US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r>
              <a:rPr kumimoji="0" lang="en-US" altLang="ru-RU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sheet fluvial erosion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Transport</a:t>
            </a:r>
            <a:r>
              <a:rPr kumimoji="0" lang="ru-RU" altLang="ru-RU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Dynamics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Delayed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sediment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delivery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due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longer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travel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distance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sub-catchments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required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overland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flow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build-up</a:t>
            </a:r>
            <a:r>
              <a:rPr kumimoji="0" lang="ru-RU" alt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5" name="Прямая со стрелкой 4"/>
          <p:cNvCxnSpPr/>
          <p:nvPr/>
        </p:nvCxnSpPr>
        <p:spPr>
          <a:xfrm flipH="1" flipV="1">
            <a:off x="2895601" y="771525"/>
            <a:ext cx="47624" cy="21764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2943225" y="2928843"/>
            <a:ext cx="2477094" cy="31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 rot="16200000">
            <a:off x="2116619" y="1704015"/>
            <a:ext cx="1073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SSC, mg/l</a:t>
            </a:r>
            <a:endParaRPr lang="ru-RU" dirty="0"/>
          </a:p>
        </p:txBody>
      </p:sp>
      <p:grpSp>
        <p:nvGrpSpPr>
          <p:cNvPr id="29" name="Группа 28"/>
          <p:cNvGrpSpPr/>
          <p:nvPr/>
        </p:nvGrpSpPr>
        <p:grpSpPr>
          <a:xfrm>
            <a:off x="3619681" y="813364"/>
            <a:ext cx="5349888" cy="2590276"/>
            <a:chOff x="3592249" y="707899"/>
            <a:chExt cx="5349888" cy="2590276"/>
          </a:xfrm>
        </p:grpSpPr>
        <p:grpSp>
          <p:nvGrpSpPr>
            <p:cNvPr id="28" name="Группа 27"/>
            <p:cNvGrpSpPr/>
            <p:nvPr/>
          </p:nvGrpSpPr>
          <p:grpSpPr>
            <a:xfrm>
              <a:off x="5998158" y="707899"/>
              <a:ext cx="2943979" cy="2176463"/>
              <a:chOff x="8741358" y="1070861"/>
              <a:chExt cx="2943979" cy="2176463"/>
            </a:xfrm>
          </p:grpSpPr>
          <p:sp>
            <p:nvSpPr>
              <p:cNvPr id="7" name="Прямоугольник 6"/>
              <p:cNvSpPr/>
              <p:nvPr/>
            </p:nvSpPr>
            <p:spPr>
              <a:xfrm>
                <a:off x="9260857" y="1209942"/>
                <a:ext cx="2143125" cy="1924050"/>
              </a:xfrm>
              <a:prstGeom prst="rect">
                <a:avLst/>
              </a:prstGeom>
              <a:solidFill>
                <a:srgbClr val="FFD0D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grpSp>
            <p:nvGrpSpPr>
              <p:cNvPr id="26" name="Группа 25"/>
              <p:cNvGrpSpPr/>
              <p:nvPr/>
            </p:nvGrpSpPr>
            <p:grpSpPr>
              <a:xfrm>
                <a:off x="8741358" y="1070861"/>
                <a:ext cx="2943979" cy="2176463"/>
                <a:chOff x="5957156" y="804676"/>
                <a:chExt cx="2943979" cy="2176463"/>
              </a:xfrm>
            </p:grpSpPr>
            <p:cxnSp>
              <p:nvCxnSpPr>
                <p:cNvPr id="20" name="Прямая со стрелкой 19"/>
                <p:cNvCxnSpPr/>
                <p:nvPr/>
              </p:nvCxnSpPr>
              <p:spPr>
                <a:xfrm>
                  <a:off x="6424041" y="2961994"/>
                  <a:ext cx="2477094" cy="3173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5" name="Группа 24"/>
                <p:cNvGrpSpPr/>
                <p:nvPr/>
              </p:nvGrpSpPr>
              <p:grpSpPr>
                <a:xfrm>
                  <a:off x="5957156" y="804676"/>
                  <a:ext cx="2624523" cy="2176463"/>
                  <a:chOff x="5957156" y="804676"/>
                  <a:chExt cx="2624523" cy="2176463"/>
                </a:xfrm>
              </p:grpSpPr>
              <p:pic>
                <p:nvPicPr>
                  <p:cNvPr id="9" name="Рисунок 8"/>
                  <p:cNvPicPr>
                    <a:picLocks noChangeAspect="1"/>
                  </p:cNvPicPr>
                  <p:nvPr/>
                </p:nvPicPr>
                <p:blipFill rotWithShape="1">
                  <a:blip r:embed="rId4">
                    <a:duotone>
                      <a:prstClr val="black"/>
                      <a:schemeClr val="tx1">
                        <a:tint val="45000"/>
                        <a:satMod val="400000"/>
                      </a:scheme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4242" b="90000" l="2655" r="40118"/>
                            </a14:imgEffect>
                          </a14:imgLayer>
                        </a14:imgProps>
                      </a:ext>
                    </a:extLst>
                  </a:blip>
                  <a:srcRect l="7080" t="-757" r="60029" b="33939"/>
                  <a:stretch/>
                </p:blipFill>
                <p:spPr>
                  <a:xfrm rot="7920793">
                    <a:off x="6476655" y="847977"/>
                    <a:ext cx="2143125" cy="2066923"/>
                  </a:xfrm>
                  <a:prstGeom prst="rect">
                    <a:avLst/>
                  </a:prstGeom>
                </p:spPr>
              </p:pic>
              <p:cxnSp>
                <p:nvCxnSpPr>
                  <p:cNvPr id="19" name="Прямая со стрелкой 18"/>
                  <p:cNvCxnSpPr/>
                  <p:nvPr/>
                </p:nvCxnSpPr>
                <p:spPr>
                  <a:xfrm flipH="1" flipV="1">
                    <a:off x="6376417" y="804676"/>
                    <a:ext cx="47624" cy="2176463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" name="TextBox 20"/>
                  <p:cNvSpPr txBox="1"/>
                  <p:nvPr/>
                </p:nvSpPr>
                <p:spPr>
                  <a:xfrm rot="16200000">
                    <a:off x="5605072" y="1645282"/>
                    <a:ext cx="107349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 smtClean="0"/>
                      <a:t>SSC, mg/l</a:t>
                    </a:r>
                    <a:endParaRPr lang="ru-RU" dirty="0"/>
                  </a:p>
                </p:txBody>
              </p:sp>
            </p:grpSp>
          </p:grpSp>
        </p:grpSp>
        <p:sp>
          <p:nvSpPr>
            <p:cNvPr id="23" name="TextBox 22"/>
            <p:cNvSpPr txBox="1"/>
            <p:nvPr/>
          </p:nvSpPr>
          <p:spPr>
            <a:xfrm>
              <a:off x="7170224" y="2928843"/>
              <a:ext cx="939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Q, m3/s</a:t>
              </a:r>
              <a:endParaRPr lang="ru-RU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592249" y="2881617"/>
              <a:ext cx="939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Q, m3/s</a:t>
              </a:r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3700631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712200" y="-12700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2025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1371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780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ru-RU" sz="5400" dirty="0" smtClean="0"/>
          </a:p>
          <a:p>
            <a:pPr marL="0" indent="0" algn="ctr">
              <a:buNone/>
            </a:pPr>
            <a:r>
              <a:rPr lang="en-US" sz="5400" dirty="0" smtClean="0"/>
              <a:t>Sediment runoff component separation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3717543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16" b="9622"/>
          <a:stretch/>
        </p:blipFill>
        <p:spPr>
          <a:xfrm>
            <a:off x="0" y="885825"/>
            <a:ext cx="12192000" cy="5610225"/>
          </a:xfrm>
          <a:prstGeom prst="rect">
            <a:avLst/>
          </a:prstGeom>
        </p:spPr>
      </p:pic>
      <p:sp>
        <p:nvSpPr>
          <p:cNvPr id="13" name="Заголовок 1"/>
          <p:cNvSpPr>
            <a:spLocks noGrp="1"/>
          </p:cNvSpPr>
          <p:nvPr>
            <p:ph type="title"/>
          </p:nvPr>
        </p:nvSpPr>
        <p:spPr>
          <a:xfrm>
            <a:off x="0" y="-134938"/>
            <a:ext cx="10515600" cy="1325563"/>
          </a:xfrm>
        </p:spPr>
        <p:txBody>
          <a:bodyPr/>
          <a:lstStyle/>
          <a:p>
            <a:r>
              <a:rPr lang="en-US" dirty="0" smtClean="0"/>
              <a:t>Sediment runoff component separation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6661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-1" y="0"/>
            <a:ext cx="12268201" cy="11906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Sediment runoff component separation: Djankuat 2025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8862"/>
            <a:ext cx="12018275" cy="600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46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0" y="-137160"/>
            <a:ext cx="12268201" cy="11906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Sediment runoff component separation: </a:t>
            </a:r>
            <a:r>
              <a:rPr lang="en-US" dirty="0" err="1" smtClean="0"/>
              <a:t>Baksan</a:t>
            </a:r>
            <a:r>
              <a:rPr lang="en-US" dirty="0" smtClean="0"/>
              <a:t>, </a:t>
            </a:r>
            <a:r>
              <a:rPr lang="en-US" dirty="0" err="1" smtClean="0"/>
              <a:t>Zayukovo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t="384" r="17998" b="837"/>
          <a:stretch/>
        </p:blipFill>
        <p:spPr>
          <a:xfrm>
            <a:off x="1244600" y="723900"/>
            <a:ext cx="9944100" cy="5994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62511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-1" y="0"/>
            <a:ext cx="12268201" cy="11906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Proportion of sediment runoff components by gauge and ablation period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73" t="5314" r="-626" b="-626"/>
          <a:stretch/>
        </p:blipFill>
        <p:spPr>
          <a:xfrm>
            <a:off x="11880681" y="-203201"/>
            <a:ext cx="336888" cy="822007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00"/>
          <a:stretch/>
        </p:blipFill>
        <p:spPr>
          <a:xfrm>
            <a:off x="-1" y="858836"/>
            <a:ext cx="11960353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829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Annual sediment yield and its </a:t>
            </a:r>
            <a:r>
              <a:rPr lang="en-US" dirty="0" err="1"/>
              <a:t>interannual</a:t>
            </a:r>
            <a:r>
              <a:rPr lang="en-US" dirty="0"/>
              <a:t> variability were estimated for three gauging stations.</a:t>
            </a:r>
          </a:p>
          <a:p>
            <a:r>
              <a:rPr lang="en-US" dirty="0"/>
              <a:t>Hysteresis analysis was performed for the study rivers in 2025.</a:t>
            </a:r>
          </a:p>
          <a:p>
            <a:r>
              <a:rPr lang="en-US" dirty="0"/>
              <a:t>The hysteresis analysis revealed that positive hysteresis dominates in small periglacial catchments, which may reflect the predominant role of upper periglacial sediment sources.</a:t>
            </a:r>
          </a:p>
          <a:p>
            <a:r>
              <a:rPr lang="en-US" dirty="0"/>
              <a:t>A sediment-yield source-separation method was developed based on median smoothing with variable window sizes. This method allows sediment yield to be partitioned into rainstorm-driven sources, channel and floodplain sediment reworking, and glacial erosion.</a:t>
            </a:r>
          </a:p>
          <a:p>
            <a:r>
              <a:rPr lang="en-US" dirty="0"/>
              <a:t>Sediment sources in small catchments were found to vary substantially between years. For the </a:t>
            </a:r>
            <a:r>
              <a:rPr lang="en-US" dirty="0" err="1"/>
              <a:t>Baksan</a:t>
            </a:r>
            <a:r>
              <a:rPr lang="en-US" dirty="0"/>
              <a:t> River at </a:t>
            </a:r>
            <a:r>
              <a:rPr lang="en-US" dirty="0" err="1"/>
              <a:t>Zayukovo</a:t>
            </a:r>
            <a:r>
              <a:rPr lang="en-US" dirty="0"/>
              <a:t>, the dominant source is sediment reworking (49%), while rainfall-induced debris flow events account for 25%. At the </a:t>
            </a:r>
            <a:r>
              <a:rPr lang="en-US" dirty="0" err="1"/>
              <a:t>Tyrnyauz</a:t>
            </a:r>
            <a:r>
              <a:rPr lang="en-US" dirty="0"/>
              <a:t> gauging station, located upstream of the debris flow event, glacial erosion is the main source (73%).</a:t>
            </a:r>
          </a:p>
        </p:txBody>
      </p:sp>
    </p:spTree>
    <p:extLst>
      <p:ext uri="{BB962C8B-B14F-4D97-AF65-F5344CB8AC3E}">
        <p14:creationId xmlns:p14="http://schemas.microsoft.com/office/powerpoint/2010/main" val="225208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Possible future directions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Perform in-depth validation of the suspended sediment source apportionment.</a:t>
            </a:r>
          </a:p>
          <a:p>
            <a:r>
              <a:rPr lang="en-US" dirty="0"/>
              <a:t>Apply a Monte Carlo approach to quantify uncertainty and test the robustness of the sediment source separation.</a:t>
            </a:r>
          </a:p>
          <a:p>
            <a:r>
              <a:rPr lang="en-US" dirty="0"/>
              <a:t>Conduct further comprehensive testing and sensitivity analysis of model parameters.</a:t>
            </a:r>
          </a:p>
          <a:p>
            <a:r>
              <a:rPr lang="en-US" dirty="0"/>
              <a:t>Convert black-box (data-driven) models into physically based models by incorporating regression relationships based on sediment source factors.</a:t>
            </a:r>
          </a:p>
          <a:p>
            <a:r>
              <a:rPr lang="en-US" dirty="0"/>
              <a:t>Establish a high-density meteorological monitoring </a:t>
            </a:r>
            <a:r>
              <a:rPr lang="en-US" dirty="0" smtClean="0"/>
              <a:t>network </a:t>
            </a:r>
            <a:r>
              <a:rPr lang="en-US" dirty="0"/>
              <a:t>for </a:t>
            </a:r>
            <a:r>
              <a:rPr lang="en-US" dirty="0" smtClean="0"/>
              <a:t>calibration</a:t>
            </a:r>
            <a:endParaRPr lang="en-US" dirty="0"/>
          </a:p>
          <a:p>
            <a:r>
              <a:rPr lang="en-US" dirty="0"/>
              <a:t>Establish a high-density turbidity monitoring </a:t>
            </a:r>
            <a:r>
              <a:rPr lang="en-US" dirty="0" smtClean="0"/>
              <a:t>network </a:t>
            </a:r>
            <a:r>
              <a:rPr lang="en-US" dirty="0"/>
              <a:t>for </a:t>
            </a:r>
            <a:r>
              <a:rPr lang="en-US" dirty="0" smtClean="0"/>
              <a:t>calibration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36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214"/>
            <a:ext cx="10515600" cy="917225"/>
          </a:xfrm>
        </p:spPr>
        <p:txBody>
          <a:bodyPr/>
          <a:lstStyle/>
          <a:p>
            <a:r>
              <a:rPr lang="en-US" dirty="0" smtClean="0"/>
              <a:t>P.S. Few words about bedload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2" t="1262" b="7043"/>
          <a:stretch/>
        </p:blipFill>
        <p:spPr>
          <a:xfrm>
            <a:off x="461665" y="1085850"/>
            <a:ext cx="5824835" cy="2512881"/>
          </a:xfrm>
        </p:spPr>
      </p:pic>
      <p:sp>
        <p:nvSpPr>
          <p:cNvPr id="5" name="TextBox 4"/>
          <p:cNvSpPr txBox="1"/>
          <p:nvPr/>
        </p:nvSpPr>
        <p:spPr>
          <a:xfrm>
            <a:off x="0" y="1713250"/>
            <a:ext cx="461665" cy="1553344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 smtClean="0"/>
              <a:t>Bedload, kg/s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 rot="5400000">
            <a:off x="3143249" y="2540015"/>
            <a:ext cx="461665" cy="2579098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 smtClean="0"/>
              <a:t>Water runoff, m³/s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9" t="3072" r="1012" b="2458"/>
          <a:stretch/>
        </p:blipFill>
        <p:spPr>
          <a:xfrm>
            <a:off x="6612031" y="953660"/>
            <a:ext cx="5372100" cy="2943225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6390129" y="4185761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Diameter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of bed load samples and floodplain sediments according to field data, august 2023: </a:t>
            </a:r>
            <a:endParaRPr lang="en-US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 – bed load samples, 2016, </a:t>
            </a:r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2017,2023, 2024, 2025; </a:t>
            </a:r>
          </a:p>
          <a:p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 – samples of riverbed sediments; </a:t>
            </a:r>
            <a:endParaRPr lang="en-US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 – weighted average value for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bedlaod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samples; </a:t>
            </a:r>
            <a:endParaRPr lang="en-US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 – average value for all floodplain sediments samples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6159296" y="953660"/>
            <a:ext cx="461665" cy="251185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 smtClean="0"/>
              <a:t>Fraction percentage/100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 rot="5400000">
            <a:off x="8921723" y="2288721"/>
            <a:ext cx="461665" cy="2417412"/>
          </a:xfrm>
          <a:prstGeom prst="rect">
            <a:avLst/>
          </a:prstGeom>
          <a:solidFill>
            <a:schemeClr val="bg1"/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US" dirty="0" smtClean="0"/>
              <a:t>Particle diameter, mm</a:t>
            </a:r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832" y="4185761"/>
            <a:ext cx="2323538" cy="22822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0731" y="6488668"/>
            <a:ext cx="218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Halley-Smith sampler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2695575" y="4555092"/>
            <a:ext cx="32670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Bedload is ~13% of annual sediment load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139379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8488</TotalTime>
  <Words>901</Words>
  <Application>Microsoft Office PowerPoint</Application>
  <PresentationFormat>Широкоэкранный</PresentationFormat>
  <Paragraphs>142</Paragraphs>
  <Slides>26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Тема Office</vt:lpstr>
      <vt:lpstr> Long-term sediment flow monitoring in the Baksan River catchment: challenges and flood-event dynamics</vt:lpstr>
      <vt:lpstr>Презентация PowerPoint</vt:lpstr>
      <vt:lpstr>Sediment gauging in Caucasus: suspended load</vt:lpstr>
      <vt:lpstr>Sediment gauging in Caucasus: bedload</vt:lpstr>
      <vt:lpstr>Study area: Baksan river watershed</vt:lpstr>
      <vt:lpstr>Disasters on Baksan catchment</vt:lpstr>
      <vt:lpstr>Study goal</vt:lpstr>
      <vt:lpstr>Methods</vt:lpstr>
      <vt:lpstr>Moscow State University and Russian academy of Science monitoring 2015 - 2026</vt:lpstr>
      <vt:lpstr>Moscow State University and Russian academy of Science monitoring 2015 - 2026</vt:lpstr>
      <vt:lpstr>Презентация PowerPoint</vt:lpstr>
      <vt:lpstr>Djankuat creek</vt:lpstr>
      <vt:lpstr>Baksan river</vt:lpstr>
      <vt:lpstr>Презентация PowerPoint</vt:lpstr>
      <vt:lpstr>Презентация PowerPoint</vt:lpstr>
      <vt:lpstr>Sediment flux hysteresis</vt:lpstr>
      <vt:lpstr>Презентация PowerPoint</vt:lpstr>
      <vt:lpstr>Презентация PowerPoint</vt:lpstr>
      <vt:lpstr>Презентация PowerPoint</vt:lpstr>
      <vt:lpstr>Sediment runoff component separation</vt:lpstr>
      <vt:lpstr>Sediment runoff component separation: Djankuat 2025</vt:lpstr>
      <vt:lpstr>Sediment runoff component separation: Baksan, Zayukovo</vt:lpstr>
      <vt:lpstr>Proportion of sediment runoff components by gauge and ablation period</vt:lpstr>
      <vt:lpstr>Conclusions</vt:lpstr>
      <vt:lpstr>Possible future directions</vt:lpstr>
      <vt:lpstr>P.S. Few words about bedload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 Long-term sediment flow monitoring in the Baksan River catchment: challenges and flood-event dynamics</dc:title>
  <dc:creator>Автор</dc:creator>
  <cp:lastModifiedBy>Автор</cp:lastModifiedBy>
  <cp:revision>57</cp:revision>
  <dcterms:created xsi:type="dcterms:W3CDTF">2026-09-09T08:45:10Z</dcterms:created>
  <dcterms:modified xsi:type="dcterms:W3CDTF">2026-09-17T09:50:40Z</dcterms:modified>
</cp:coreProperties>
</file>